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19" d="100"/>
          <a:sy n="119" d="100"/>
        </p:scale>
        <p:origin x="33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3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29184"/>
            <a:ext cx="8229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i="0">
                <a:solidFill>
                  <a:srgbClr val="003E6F"/>
                </a:solidFill>
                <a:latin typeface="Calibri"/>
              </a:rPr>
              <a:t>RAG Studio  </a:t>
            </a:r>
            <a:r>
              <a:rPr sz="2400" b="1" i="0">
                <a:solidFill>
                  <a:srgbClr val="1F2937"/>
                </a:solidFill>
                <a:latin typeface="Calibri"/>
              </a:rPr>
              <a:t>Capability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066B2"/>
                </a:solidFill>
                <a:latin typeface="Calibri"/>
              </a:rPr>
              <a:t>HSBC AI Platform  |  </a:t>
            </a:r>
            <a:r>
              <a:rPr sz="1100" b="0" i="1">
                <a:solidFill>
                  <a:srgbClr val="4B5563"/>
                </a:solidFill>
                <a:latin typeface="Calibri"/>
              </a:rPr>
              <a:t>From data to grounded answers — our journey, today and ahead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7135" y="384048"/>
            <a:ext cx="1828800" cy="502920"/>
          </a:xfrm>
          <a:prstGeom prst="roundRect">
            <a:avLst/>
          </a:prstGeom>
          <a:solidFill>
            <a:srgbClr val="E6EFF7"/>
          </a:solidFill>
          <a:ln w="9525">
            <a:solidFill>
              <a:srgbClr val="006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97135" y="384048"/>
            <a:ext cx="1828800" cy="502920"/>
          </a:xfrm>
          <a:prstGeom prst="rect">
            <a:avLst/>
          </a:prstGeom>
          <a:noFill/>
        </p:spPr>
        <p:txBody>
          <a:bodyPr wrap="square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3E6F"/>
                </a:solidFill>
                <a:latin typeface="Calibri"/>
              </a:rPr>
              <a:t>Q3 2025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Internal | 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1460175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27827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4864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" y="1316736"/>
            <a:ext cx="25998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Calibri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609343"/>
            <a:ext cx="2599867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Live in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8235" y="1280160"/>
            <a:ext cx="27827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58235" y="1280160"/>
            <a:ext cx="54864" cy="566928"/>
          </a:xfrm>
          <a:prstGeom prst="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04539" y="1316736"/>
            <a:ext cx="25998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E69500"/>
                </a:solidFill>
                <a:latin typeface="Calibr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4539" y="1609343"/>
            <a:ext cx="2599867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Shipping in Q3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0711" y="1280160"/>
            <a:ext cx="27827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0711" y="1280160"/>
            <a:ext cx="54864" cy="566928"/>
          </a:xfrm>
          <a:prstGeom prst="rect">
            <a:avLst/>
          </a:prstGeom>
          <a:solidFill>
            <a:srgbClr val="003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7015" y="1316736"/>
            <a:ext cx="25998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003E6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7015" y="1609343"/>
            <a:ext cx="2599867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Q4 Focus Areas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3187" y="1280160"/>
            <a:ext cx="27827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43187" y="1280160"/>
            <a:ext cx="54864" cy="566928"/>
          </a:xfrm>
          <a:prstGeom prst="rect">
            <a:avLst/>
          </a:prstGeom>
          <a:solidFill>
            <a:srgbClr val="008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491" y="1316736"/>
            <a:ext cx="25998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00888B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491" y="1609343"/>
            <a:ext cx="2599867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HSBC Data Fabric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1993392"/>
            <a:ext cx="11460175" cy="502920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2267712"/>
            <a:ext cx="1054577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011680"/>
            <a:ext cx="21945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900" b="1" i="0">
                <a:solidFill>
                  <a:srgbClr val="9E9E9E"/>
                </a:solidFill>
                <a:latin typeface="Calibri"/>
              </a:rPr>
              <a:t>Q1</a:t>
            </a:r>
            <a:r>
              <a:rPr sz="800" b="0" i="0">
                <a:solidFill>
                  <a:srgbClr val="9E9E9E"/>
                </a:solidFill>
                <a:latin typeface="Calibri"/>
              </a:rPr>
              <a:t>  ·  </a:t>
            </a:r>
            <a:r>
              <a:rPr sz="800" b="1" i="0">
                <a:solidFill>
                  <a:srgbClr val="1F2937"/>
                </a:solidFill>
                <a:latin typeface="Calibri"/>
              </a:rPr>
              <a:t>Foundation</a:t>
            </a:r>
          </a:p>
        </p:txBody>
      </p:sp>
      <p:sp>
        <p:nvSpPr>
          <p:cNvPr id="28" name="Oval 27"/>
          <p:cNvSpPr/>
          <p:nvPr/>
        </p:nvSpPr>
        <p:spPr>
          <a:xfrm>
            <a:off x="749808" y="2203704"/>
            <a:ext cx="146304" cy="146304"/>
          </a:xfrm>
          <a:prstGeom prst="ellipse">
            <a:avLst/>
          </a:prstGeom>
          <a:solidFill>
            <a:srgbClr val="9E9E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2377440"/>
            <a:ext cx="237744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700" b="0" i="1">
                <a:solidFill>
                  <a:srgbClr val="4B5563"/>
                </a:solidFill>
                <a:latin typeface="Calibri"/>
              </a:rPr>
              <a:t>Vector DB · Chunking · 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938" y="2011680"/>
            <a:ext cx="21945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900" b="1" i="0">
                <a:solidFill>
                  <a:srgbClr val="9E9E9E"/>
                </a:solidFill>
                <a:latin typeface="Calibri"/>
              </a:rPr>
              <a:t>Q2</a:t>
            </a:r>
            <a:r>
              <a:rPr sz="800" b="0" i="0">
                <a:solidFill>
                  <a:srgbClr val="9E9E9E"/>
                </a:solidFill>
                <a:latin typeface="Calibri"/>
              </a:rPr>
              <a:t>  ·  </a:t>
            </a:r>
            <a:r>
              <a:rPr sz="800" b="1" i="0">
                <a:solidFill>
                  <a:srgbClr val="1F2937"/>
                </a:solidFill>
                <a:latin typeface="Calibri"/>
              </a:rPr>
              <a:t>Scale</a:t>
            </a:r>
          </a:p>
        </p:txBody>
      </p:sp>
      <p:sp>
        <p:nvSpPr>
          <p:cNvPr id="31" name="Oval 30"/>
          <p:cNvSpPr/>
          <p:nvPr/>
        </p:nvSpPr>
        <p:spPr>
          <a:xfrm>
            <a:off x="4265066" y="2203704"/>
            <a:ext cx="146304" cy="146304"/>
          </a:xfrm>
          <a:prstGeom prst="ellipse">
            <a:avLst/>
          </a:prstGeom>
          <a:solidFill>
            <a:srgbClr val="9E9E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49498" y="2377440"/>
            <a:ext cx="237744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700" b="0" i="1">
                <a:solidFill>
                  <a:srgbClr val="4B5563"/>
                </a:solidFill>
                <a:latin typeface="Calibri"/>
              </a:rPr>
              <a:t>Web grounding · APIs · 5 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6196" y="2011680"/>
            <a:ext cx="21945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900" b="1" i="0">
                <a:solidFill>
                  <a:srgbClr val="E69500"/>
                </a:solidFill>
                <a:latin typeface="Calibri"/>
              </a:rPr>
              <a:t>Q3</a:t>
            </a:r>
            <a:r>
              <a:rPr sz="800" b="0" i="0">
                <a:solidFill>
                  <a:srgbClr val="9E9E9E"/>
                </a:solidFill>
                <a:latin typeface="Calibri"/>
              </a:rPr>
              <a:t>  ·  </a:t>
            </a:r>
            <a:r>
              <a:rPr sz="800" b="1" i="0">
                <a:solidFill>
                  <a:srgbClr val="1F2937"/>
                </a:solidFill>
                <a:latin typeface="Calibri"/>
              </a:rPr>
              <a:t>Extension</a:t>
            </a:r>
          </a:p>
        </p:txBody>
      </p:sp>
      <p:sp>
        <p:nvSpPr>
          <p:cNvPr id="34" name="Oval 33"/>
          <p:cNvSpPr/>
          <p:nvPr/>
        </p:nvSpPr>
        <p:spPr>
          <a:xfrm>
            <a:off x="7780324" y="2203704"/>
            <a:ext cx="146304" cy="146304"/>
          </a:xfrm>
          <a:prstGeom prst="ellipse">
            <a:avLst/>
          </a:prstGeom>
          <a:solidFill>
            <a:srgbClr val="E695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64756" y="2377440"/>
            <a:ext cx="237744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700" b="0" i="1">
                <a:solidFill>
                  <a:srgbClr val="4B5563"/>
                </a:solidFill>
                <a:latin typeface="Calibri"/>
              </a:rPr>
              <a:t>10 new capabilities · agentic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1375" y="2011680"/>
            <a:ext cx="21945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900" b="1" i="0">
                <a:solidFill>
                  <a:srgbClr val="003E6F"/>
                </a:solidFill>
                <a:latin typeface="Calibri"/>
              </a:rPr>
              <a:t>Q4</a:t>
            </a:r>
            <a:r>
              <a:rPr sz="800" b="0" i="0">
                <a:solidFill>
                  <a:srgbClr val="9E9E9E"/>
                </a:solidFill>
                <a:latin typeface="Calibri"/>
              </a:rPr>
              <a:t>  ·  </a:t>
            </a:r>
            <a:r>
              <a:rPr sz="800" b="1" i="0">
                <a:solidFill>
                  <a:srgbClr val="1F2937"/>
                </a:solidFill>
                <a:latin typeface="Calibri"/>
              </a:rPr>
              <a:t>Alignment</a:t>
            </a:r>
          </a:p>
        </p:txBody>
      </p:sp>
      <p:sp>
        <p:nvSpPr>
          <p:cNvPr id="37" name="Oval 36"/>
          <p:cNvSpPr/>
          <p:nvPr/>
        </p:nvSpPr>
        <p:spPr>
          <a:xfrm>
            <a:off x="11295583" y="2203704"/>
            <a:ext cx="146304" cy="146304"/>
          </a:xfrm>
          <a:prstGeom prst="ellipse">
            <a:avLst/>
          </a:prstGeom>
          <a:solidFill>
            <a:srgbClr val="003E6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48495" y="2377440"/>
            <a:ext cx="237744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/>
            <a:r>
              <a:rPr sz="700" b="0" i="1">
                <a:solidFill>
                  <a:srgbClr val="4B5563"/>
                </a:solidFill>
                <a:latin typeface="Calibri"/>
              </a:rPr>
              <a:t>Data Fabric · Governance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87716" y="2459736"/>
            <a:ext cx="731520" cy="164592"/>
          </a:xfrm>
          <a:prstGeom prst="roundRect">
            <a:avLst/>
          </a:prstGeom>
          <a:solidFill>
            <a:srgbClr val="C99A2E"/>
          </a:solidFill>
          <a:ln w="9525">
            <a:solidFill>
              <a:srgbClr val="E6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87716" y="2459736"/>
            <a:ext cx="731520" cy="1645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WE ARE HERE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542032"/>
            <a:ext cx="3728618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65760" y="2596896"/>
            <a:ext cx="3728618" cy="914400"/>
          </a:xfrm>
          <a:prstGeom prst="roundRect">
            <a:avLst/>
          </a:prstGeom>
          <a:solidFill>
            <a:srgbClr val="E3F1E8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2633472"/>
            <a:ext cx="3399434" cy="14630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650" b="1" i="0">
                <a:solidFill>
                  <a:srgbClr val="2E8B57"/>
                </a:solidFill>
                <a:latin typeface="Calibri"/>
              </a:rPr>
              <a:t>PHASE 1 — ALREADY DELIVERED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2761487"/>
            <a:ext cx="3399434" cy="23774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300" b="1" i="0">
                <a:solidFill>
                  <a:srgbClr val="003E6F"/>
                </a:solidFill>
                <a:latin typeface="Calibri"/>
              </a:rPr>
              <a:t>Existing Capabilities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2999232"/>
            <a:ext cx="3399434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9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800" b="1" i="0">
                <a:solidFill>
                  <a:srgbClr val="2E8B57"/>
                </a:solidFill>
                <a:latin typeface="Calibri"/>
              </a:rPr>
              <a:t>Live in Prod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3163824"/>
            <a:ext cx="339943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1">
                <a:solidFill>
                  <a:srgbClr val="4B5563"/>
                </a:solidFill>
                <a:latin typeface="Calibri"/>
              </a:rPr>
              <a:t>End-to-end RAG is live — connecting data, retrieval, generation, and quality measurement.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566160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3566160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DATA SOURCES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01186" y="3566160"/>
            <a:ext cx="329184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01186" y="3566160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3706063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Confluence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815791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Google Cloud + Azure Blob 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925519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Local Documents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048963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4048963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DOCUMENT PROCESSING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01186" y="4048963"/>
            <a:ext cx="329184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01186" y="4048963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188866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TXT / JSON / Markdown / XLSX / XLS / CSV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4298594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PDF / Docx / HTML (multimodal)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4408322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4531766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1480" y="4531766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INTELLIGENT CHUNKING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01186" y="4531766"/>
            <a:ext cx="329184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701186" y="4531766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4671669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Recursive fixed-length with overlap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4781397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Chunk-by-Page (PDF)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904841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1480" y="4904841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VECTOR DB &amp; RETRIEVAL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701186" y="4904841"/>
            <a:ext cx="329184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701186" y="4904841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5044744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PGVector · Azure AI Search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5154472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Semantic + Hybrid + Keyword Search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5264200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LLM + Similarity Rerank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387644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5387644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GENERATION &amp; EVALUATION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701186" y="5387644"/>
            <a:ext cx="329184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701186" y="5387644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5527547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Grounded Generation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5637275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5-metric RAG performance evaluation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760719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11480" y="5760719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APIS &amp; EXTERNAL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701186" y="5760719"/>
            <a:ext cx="329184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01186" y="5760719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5900623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Chat &amp; Retrieval APIs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6010351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Web Grounding for Enterprise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31538" y="2542032"/>
            <a:ext cx="3728618" cy="54864"/>
          </a:xfrm>
          <a:prstGeom prst="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4231538" y="2596896"/>
            <a:ext cx="3728618" cy="914400"/>
          </a:xfrm>
          <a:prstGeom prst="roundRect">
            <a:avLst/>
          </a:prstGeom>
          <a:solidFill>
            <a:srgbClr val="FBEFD9"/>
          </a:solidFill>
          <a:ln w="9525">
            <a:solidFill>
              <a:srgbClr val="E6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396130" y="2633472"/>
            <a:ext cx="3399434" cy="14630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650" b="1" i="0">
                <a:solidFill>
                  <a:srgbClr val="E69500"/>
                </a:solidFill>
                <a:latin typeface="Calibri"/>
              </a:rPr>
              <a:t>PHASE 2 — THIS QUARTER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96130" y="2761487"/>
            <a:ext cx="3399434" cy="23774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300" b="1" i="0">
                <a:solidFill>
                  <a:srgbClr val="003E6F"/>
                </a:solidFill>
                <a:latin typeface="Calibri"/>
              </a:rPr>
              <a:t>Q3 Roadmap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96130" y="2999232"/>
            <a:ext cx="3399434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9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800" b="1" i="0">
                <a:solidFill>
                  <a:srgbClr val="E69500"/>
                </a:solidFill>
                <a:latin typeface="Calibri"/>
              </a:rPr>
              <a:t>Upcoming in Q3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96130" y="3163824"/>
            <a:ext cx="339943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1">
                <a:solidFill>
                  <a:srgbClr val="4B5563"/>
                </a:solidFill>
                <a:latin typeface="Calibri"/>
              </a:rPr>
              <a:t>Extending reach — more data, smarter retrieval, agentic answers, two new paradigms.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77258" y="3566160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277258" y="3566160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BROADER DATA SOURCES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66964" y="3566160"/>
            <a:ext cx="329184" cy="128016"/>
          </a:xfrm>
          <a:prstGeom prst="round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566964" y="3566160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77258" y="3706063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SharePoint connector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77258" y="3815791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KMS connector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77258" y="3925519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On-prem Object Storage connector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77258" y="4048963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277258" y="4048963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KNOWLEDGE MANAGEMENT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566964" y="4048963"/>
            <a:ext cx="329184" cy="128016"/>
          </a:xfrm>
          <a:prstGeom prst="round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566964" y="4048963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77258" y="4188866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Scheduled synchronization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77258" y="4298594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Multi-datasource per knowledge base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77258" y="4422038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77258" y="4422038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SMARTER RETRIEVAL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566964" y="4422038"/>
            <a:ext cx="329184" cy="128016"/>
          </a:xfrm>
          <a:prstGeom prst="round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566964" y="4422038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77258" y="4561941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Query Rewrite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77258" y="4671669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Agentic Multi-Dataset Search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77258" y="4781397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Semantic Chunking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77258" y="4891125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Reranking Model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77258" y="5014569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277258" y="5014569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BETTER ANSWERS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566964" y="5014569"/>
            <a:ext cx="329184" cy="128016"/>
          </a:xfrm>
          <a:prstGeom prst="round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566964" y="5014569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77258" y="5154472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Agentic Generation with Self-Reflection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277258" y="5277916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277258" y="5277916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NEW PARADIGMS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566964" y="5277916"/>
            <a:ext cx="329184" cy="128016"/>
          </a:xfrm>
          <a:prstGeom prst="round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566964" y="5277916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77258" y="5417819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Vector-Free RAG (LLMwiki-style)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77258" y="5527547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Graph RAG for multi-hop reasoning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277258" y="5650991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277258" y="5650991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APIS &amp; WEB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566964" y="5650991"/>
            <a:ext cx="329184" cy="128016"/>
          </a:xfrm>
          <a:prstGeom prst="roundRect">
            <a:avLst/>
          </a:prstGeom>
          <a:solidFill>
            <a:srgbClr val="E6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566964" y="5650991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277258" y="5790895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Knowledge Management APIs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77258" y="5900623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E69500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Bing Search integration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97316" y="2542032"/>
            <a:ext cx="3728618" cy="54864"/>
          </a:xfrm>
          <a:prstGeom prst="rect">
            <a:avLst/>
          </a:prstGeom>
          <a:solidFill>
            <a:srgbClr val="003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8097316" y="2596896"/>
            <a:ext cx="3728618" cy="914400"/>
          </a:xfrm>
          <a:prstGeom prst="roundRect">
            <a:avLst/>
          </a:prstGeom>
          <a:solidFill>
            <a:srgbClr val="E6EFF7"/>
          </a:solidFill>
          <a:ln w="9525">
            <a:solidFill>
              <a:srgbClr val="003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261908" y="2633472"/>
            <a:ext cx="3399434" cy="14630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650" b="1" i="0">
                <a:solidFill>
                  <a:srgbClr val="003E6F"/>
                </a:solidFill>
                <a:latin typeface="Calibri"/>
              </a:rPr>
              <a:t>PHASE 3 — LOOKING AHEAD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61908" y="2761487"/>
            <a:ext cx="3399434" cy="23774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1300" b="1" i="0">
                <a:solidFill>
                  <a:srgbClr val="003E6F"/>
                </a:solidFill>
                <a:latin typeface="Calibri"/>
              </a:rPr>
              <a:t>Q4 Target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61908" y="2999232"/>
            <a:ext cx="3399434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900" b="1" i="0">
                <a:solidFill>
                  <a:srgbClr val="003E6F"/>
                </a:solidFill>
                <a:latin typeface="Calibri"/>
              </a:rPr>
              <a:t>● </a:t>
            </a:r>
            <a:r>
              <a:rPr sz="800" b="1" i="0">
                <a:solidFill>
                  <a:srgbClr val="003E6F"/>
                </a:solidFill>
                <a:latin typeface="Calibri"/>
              </a:rPr>
              <a:t>Q4 Focus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61908" y="3163824"/>
            <a:ext cx="339943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1">
                <a:solidFill>
                  <a:srgbClr val="4B5563"/>
                </a:solidFill>
                <a:latin typeface="Calibri"/>
              </a:rPr>
              <a:t>From features to foundation — bank-scale alignment with Data Fabric and governance.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143036" y="3566160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143036" y="3566160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PLATFORM INTEGRATION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1432743" y="3566160"/>
            <a:ext cx="329184" cy="128016"/>
          </a:xfrm>
          <a:prstGeom prst="roundRect">
            <a:avLst/>
          </a:prstGeom>
          <a:solidFill>
            <a:srgbClr val="003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1432743" y="3566160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143036" y="3706063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003E6F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Connection to HSBC Data Fabric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143036" y="3815791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003E6F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Strategic alignment with Data Platform team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143036" y="3939235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143036" y="3939235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GOVERNANCE &amp; TRUST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1432743" y="3939235"/>
            <a:ext cx="329184" cy="128016"/>
          </a:xfrm>
          <a:prstGeom prst="roundRect">
            <a:avLst/>
          </a:prstGeom>
          <a:solidFill>
            <a:srgbClr val="003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1432743" y="3939235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143036" y="4079138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003E6F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AI-governance-aligned RAG products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143036" y="4188866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003E6F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Agreed evaluation framework &amp; guardrails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143036" y="4312310"/>
            <a:ext cx="3637178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143036" y="4312310"/>
            <a:ext cx="3271418" cy="128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003E6F"/>
                </a:solidFill>
                <a:latin typeface="Calibri"/>
              </a:rPr>
              <a:t>CONTINUOUS IMPROVEMENT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1432743" y="4312310"/>
            <a:ext cx="329184" cy="128016"/>
          </a:xfrm>
          <a:prstGeom prst="roundRect">
            <a:avLst/>
          </a:prstGeom>
          <a:solidFill>
            <a:srgbClr val="003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1432743" y="4312310"/>
            <a:ext cx="329184" cy="1280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143036" y="4452213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003E6F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Ongoing enhancement across retrieval, chunking, reranking &amp; generation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143036" y="4561941"/>
            <a:ext cx="3637178" cy="118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 i="0">
                <a:solidFill>
                  <a:srgbClr val="003E6F"/>
                </a:solidFill>
                <a:latin typeface="Calibri"/>
              </a:rPr>
              <a:t>● </a:t>
            </a:r>
            <a:r>
              <a:rPr sz="750" b="0" i="0">
                <a:solidFill>
                  <a:srgbClr val="1F2937"/>
                </a:solidFill>
                <a:latin typeface="Calibri"/>
              </a:rPr>
              <a:t>Production telemetry &amp; customer feedback loop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097316" y="4740249"/>
            <a:ext cx="3728618" cy="841248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8207044" y="4776825"/>
            <a:ext cx="3509162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700" b="1" i="0">
                <a:solidFill>
                  <a:srgbClr val="9E9E9E"/>
                </a:solidFill>
                <a:latin typeface="Calibri"/>
              </a:rPr>
              <a:t>BACKLOG CARRY-IN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07044" y="4941417"/>
            <a:ext cx="3509162" cy="14630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E9E9E"/>
                </a:solidFill>
                <a:latin typeface="Calibri"/>
              </a:rPr>
              <a:t>● </a:t>
            </a:r>
            <a:r>
              <a:rPr sz="700" b="0" i="0">
                <a:solidFill>
                  <a:srgbClr val="4B5563"/>
                </a:solidFill>
                <a:latin typeface="Calibri"/>
              </a:rPr>
              <a:t>OneDrive connector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07044" y="5069433"/>
            <a:ext cx="3509162" cy="14630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E9E9E"/>
                </a:solidFill>
                <a:latin typeface="Calibri"/>
              </a:rPr>
              <a:t>● </a:t>
            </a:r>
            <a:r>
              <a:rPr sz="700" b="0" i="0">
                <a:solidFill>
                  <a:srgbClr val="4B5563"/>
                </a:solidFill>
                <a:latin typeface="Calibri"/>
              </a:rPr>
              <a:t>ServiceNow connector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207044" y="5197449"/>
            <a:ext cx="3509162" cy="14630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E9E9E"/>
                </a:solidFill>
                <a:latin typeface="Calibri"/>
              </a:rPr>
              <a:t>● </a:t>
            </a:r>
            <a:r>
              <a:rPr sz="700" b="0" i="0">
                <a:solidFill>
                  <a:srgbClr val="4B5563"/>
                </a:solidFill>
                <a:latin typeface="Calibri"/>
              </a:rPr>
              <a:t>Confluence with Attachments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07044" y="5325465"/>
            <a:ext cx="3509162" cy="14630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E9E9E"/>
                </a:solidFill>
                <a:latin typeface="Calibri"/>
              </a:rPr>
              <a:t>● </a:t>
            </a:r>
            <a:r>
              <a:rPr sz="700" b="0" i="0">
                <a:solidFill>
                  <a:srgbClr val="4B5563"/>
                </a:solidFill>
                <a:latin typeface="Calibri"/>
              </a:rPr>
              <a:t>Hierarchy Chunking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6199632"/>
            <a:ext cx="11460175" cy="365760"/>
          </a:xfrm>
          <a:prstGeom prst="roundRect">
            <a:avLst/>
          </a:prstGeom>
          <a:solidFill>
            <a:srgbClr val="003E6F"/>
          </a:solidFill>
          <a:ln w="9525">
            <a:solidFill>
              <a:srgbClr val="003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8640" y="6199632"/>
            <a:ext cx="11094415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C99A2E"/>
                </a:solidFill>
                <a:latin typeface="Calibri"/>
              </a:rPr>
              <a:t>THE THESIS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RAG Studio evolves from a feature toolkit into a governed, bank-wide capability —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 compounding value through data, intelligence, and trust.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65760" y="6574536"/>
            <a:ext cx="1146017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65760" y="6629400"/>
            <a:ext cx="77724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/>
            <a:r>
              <a:rPr sz="800" b="1" i="0">
                <a:solidFill>
                  <a:srgbClr val="2E8B57"/>
                </a:solidFill>
                <a:latin typeface="Calibri"/>
              </a:rPr>
              <a:t>● 17 Live   </a:t>
            </a:r>
            <a:r>
              <a:rPr sz="800" b="1" i="0">
                <a:solidFill>
                  <a:srgbClr val="E69500"/>
                </a:solidFill>
                <a:latin typeface="Calibri"/>
              </a:rPr>
              <a:t>● 16 Q3   </a:t>
            </a:r>
            <a:r>
              <a:rPr sz="800" b="1" i="0">
                <a:solidFill>
                  <a:srgbClr val="003E6F"/>
                </a:solidFill>
                <a:latin typeface="Calibri"/>
              </a:rPr>
              <a:t>● Q4 Platform &amp; Governance   </a:t>
            </a:r>
            <a:r>
              <a:rPr sz="800" b="1" i="0">
                <a:solidFill>
                  <a:srgbClr val="9E9E9E"/>
                </a:solidFill>
                <a:latin typeface="Calibri"/>
              </a:rPr>
              <a:t>● 4 Backlog (carried to Q4)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11135" y="6629400"/>
            <a:ext cx="41148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/>
            <a:r>
              <a:rPr sz="800" b="0" i="1">
                <a:solidFill>
                  <a:srgbClr val="4B5563"/>
                </a:solidFill>
                <a:latin typeface="Calibri"/>
              </a:rPr>
              <a:t>RAG Studio  •  HSBC AI Platform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454</Words>
  <Application>Microsoft Macintosh PowerPoint</Application>
  <PresentationFormat>Widescreen</PresentationFormat>
  <Paragraphs>106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Yuqiao Leng</cp:lastModifiedBy>
  <cp:revision>1</cp:revision>
  <dcterms:created xsi:type="dcterms:W3CDTF">2013-01-27T09:14:16Z</dcterms:created>
  <dcterms:modified xsi:type="dcterms:W3CDTF">2026-07-28T15:37:47Z</dcterms:modified>
  <cp:category/>
</cp:coreProperties>
</file>